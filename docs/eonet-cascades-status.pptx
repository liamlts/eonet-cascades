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728655" cy="1371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6400" b="1">
                <a:solidFill>
                  <a:srgbClr val="1F3A5F"/>
                </a:solidFill>
                <a:latin typeface="Calibri"/>
              </a:rPr>
              <a:t>eonet-cascades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728655" cy="2286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2200">
                <a:solidFill>
                  <a:srgbClr val="101010"/>
                </a:solidFill>
                <a:latin typeface="Calibri"/>
              </a:rPr>
              <a:t>Learning how natural disasters cascade — and discovering, along the way,</a:t>
            </a:r>
          </a:p>
          <a:p>
            <a:r>
              <a:rPr sz="2200">
                <a:solidFill>
                  <a:srgbClr val="101010"/>
                </a:solidFill>
                <a:latin typeface="Calibri"/>
              </a:rPr>
              <a:t>a non-obvious failure mode of Neural Hawkes models on imbalanced mark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754880"/>
            <a:ext cx="10728655" cy="914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2C7A7B"/>
                </a:solidFill>
                <a:latin typeface="Calibri"/>
              </a:rPr>
              <a:t>Four cloud experiments. Four refuted hypotheses. One clean diagnosis.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852160"/>
            <a:ext cx="1072865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Calibri"/>
              </a:rPr>
              <a:t>Liam Schmidt  ·  Northeastern University  ·  status update 2026-05-28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One disaster sets off another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Hazards don't happen in isolation — they cascade.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The 2011 Tōhoku earthquake triggered the tsunami that flooded Fukushima.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Hurricane Katrina's storm surge caused most of the deaths attributed to the storm itself.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Wildfires destroy vegetation; a year later when the rains return, hillsides slide.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Question: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Across 2.4 million natural-hazard events worldwide since 2000, can we learn the GENERAL structure of these cascades from data alone — without telling the model anything about geology, meteorology, or risk engineering?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1 — Motivation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The data — NASA EONET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Earth Observatory Natural Event Tracker; 2.4 M events 2000–present.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Scale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2.4 M events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Global coverage, 2000 → present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1.1 GB DuckDB on local disk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Splits used in this work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Train: 2022-01 → 2024-06 (2.385 M events)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Val: 2024-07 → 2024-12 (356 k events)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007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Event types (K=7 in train/val splits)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wildfire — ~87% of events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severe storm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flood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earthquake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tornado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landslide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dust haze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2 —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Background — what's a "point process"?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Random events that happen at random times. Poisson is the no-memory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Poisson process: events occur at constant rate λ, with no memory of past events.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2400" b="1">
                <a:solidFill>
                  <a:srgbClr val="2C7A7B"/>
                </a:solidFill>
                <a:latin typeface="Cambria Math"/>
              </a:rPr>
              <a:t>λ(t) = λ₀     (constant)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Properties: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Expected events in time T equals λ₀ · T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Interevent intervals are exponentially distributed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Past events tell you NOTHING about future events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That last property fails for natural hazards — an earthquake clearly tells you about the next event. We need a process WITH memory.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3 — Background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Hawkes processes — past events boost future 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The simplest self-exciting point process.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Let the rate at time t depend on all earlier events:</a:t>
            </a:r>
          </a:p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2400" b="1">
                <a:solidFill>
                  <a:srgbClr val="2C7A7B"/>
                </a:solidFill>
                <a:latin typeface="Cambria Math"/>
              </a:rPr>
              <a:t>λ(t) = μ + Σᵢ α · exp[ −β · (t − tᵢ) ]     for all tᵢ &lt; t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μ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baseline rate — how often events happen "on their own"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α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how much each past event boosts the rate of the next one</a:t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β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how quickly that boost decays in time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Picture: each event creates a spike in intensity that decays. Stack the spikes → rate of the next event.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4 — Hawkes process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Multivariate Hawkes — cascades between event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With K event types, each type's rate depends on past events of every 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>
              <a:spcBef>
                <a:spcPts val="800"/>
              </a:spcBef>
              <a:spcAft>
                <a:spcPts val="800"/>
              </a:spcAft>
            </a:pPr>
            <a:r>
              <a:rPr sz="2400" b="1">
                <a:solidFill>
                  <a:srgbClr val="2C7A7B"/>
                </a:solidFill>
                <a:latin typeface="Cambria Math"/>
              </a:rPr>
              <a:t>λᵢ(t) = μᵢ + Σⱼ Σ_{tₖ &lt; t, type(k)=j} αᵢⱼ · exp[ −βᵢⱼ · (t − tₖ) ]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The K × K matrix αᵢⱼ IS the cascade graph: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αᵢⱼ &gt; 0  ⇒  type j triggers type i</a:t>
            </a:r>
          </a:p>
          <a:p>
            <a:pPr algn="l">
              <a:spcAft>
                <a:spcPts val="4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•  αᵢⱼ ≈ 0  ⇒  no causal coupling between them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If we can fit α from data, we recover the cascade structure. That was this project's headline goal.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5 — Multivariate Hawkes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Three model tiers, one shared likelihood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Apples-to-apples comparison across functional forms.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Tier 0 — Parametric Hawkes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Constant α × exp time × Gaussian space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~200 parameters total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Max interpretability; rigid form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Tier 1 — Neural Hawkes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CTLSTM + bivariate MDN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~30,000 parameters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Flexible; no explicit α matrix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    ◦  Most of this project's work was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007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How do we recover α from Tier 1?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Two derived K × K views: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    ◦  Gradient attribution — ∂ log λᵢ / ∂ h_j norms, decayed in time, aggregated parent → child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    ◦  Forward simulation — Monte Carlo a parent event forward, count first-child marks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At infinite data, these should agree.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Their disagreement at finite data is the headline finding of this project.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6 — Three tiers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The interpretability bridge — two K×K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These should be equivalent at infinite training 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View A — Gradient attribution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Operates on the LSTM hidden state h(t) directly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Bypasses the mark head's output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B3A"/>
                </a:solidFill>
                <a:latin typeface="Calibri"/>
              </a:rPr>
              <a:t>✓  Recovers off-diagonal cascade structure cleanly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    ◦  In all four runs, finds wildfire self-excitation, earthquake → wildfire, severe_storm → severe_storm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007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View B — Forward simulation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Samples through the mark head's full output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Should produce a parent-conditional K × K transition matrix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C75B12"/>
                </a:solidFill>
                <a:latin typeface="Calibri"/>
              </a:rPr>
              <a:t>✗  Row-degenerate in all four runs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    ◦  Every parent gives the same child distribution; max deviation &lt; 0.001 across all checkpoints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760720"/>
            <a:ext cx="11094415" cy="7315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The disagreement IS the diagnostic. Three days of work tracking it down.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7 — Interpretability bridge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The four runs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Each targeted the mark head. Each failed the primary acceptance criterion.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>Lambda Labs A10 GPU, 15 epochs, ~5h each, ~$5 each. Total ≈ $19.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Tier 1 — baseline (linear mark head, joint Hawkes NLL)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>•  Val NLL 4.20  ·  probe row-dev 0.0012  ·  wildfire marginal 0.90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Tier 1.5 — class re-weighting + stratified subsample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>•  Val NLL 6.80 (+62%)  ·  probe row-dev 0.0000  ·  marginal flattened to 0.19 wildfire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75B12"/>
                </a:solidFill>
                <a:latin typeface="Calibri"/>
              </a:rPr>
              <a:t>✗  Refutes the class-imbalance hypothesis.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Tier 1-MLP — replace linear head with MLP (64→32→K ReLU)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>•  Val NLL 3.38 (−20%, BEST OF ANY TIER)  ·  probe row-dev 0.0000  ·  wildfire marginal 0.94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75B12"/>
                </a:solidFill>
                <a:latin typeface="Calibri"/>
              </a:rPr>
              <a:t>✗  Refutes the head-capacity hypothesis.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Tier 1-aux — explicit cross-entropy auxiliary loss on the mark head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101010"/>
                </a:solidFill>
                <a:latin typeface="Calibri"/>
              </a:rPr>
              <a:t>•  Val NLL 4.94 (+18%)  ·  probe row-dev 0.0002  ·  marginal flattened to 0.27 wildfire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75B12"/>
                </a:solidFill>
                <a:latin typeface="Calibri"/>
              </a:rPr>
              <a:t>✗  Refutes the gradient-signal hypothesis. Most informative negative.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8 — The four runs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C75B12"/>
                </a:solidFill>
                <a:latin typeface="Calibri"/>
              </a:rPr>
              <a:t>Tier 1-aux: the most informative failure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Aux loss reshapes the marginal — but not the conditioning.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Added an explicit cross-entropy loss: −log softmax(z)_{k_obs}, coefficient λ=1.0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What the aux loss DID do: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B3A"/>
                </a:solidFill>
                <a:latin typeface="Calibri"/>
              </a:rPr>
              <a:t>✓  Dragged the mark-head's output marginal from 94% wildfire (Tier 1-MLP) to nearly uniform across top 4 marks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    ◦  Wildfire 0.27, severe_storm 0.26, flood 0.23, earthquake 0.23, tornado 0.01, landslide 0.00, dust_haze 0.00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B3A"/>
                </a:solidFill>
                <a:latin typeface="Calibri"/>
              </a:rPr>
              <a:t>✓  Proves the mark head HAS the representational capacity for non-trivial outputs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What the aux loss did NOT do: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75B12"/>
                </a:solidFill>
                <a:latin typeface="Calibri"/>
              </a:rPr>
              <a:t>✗  Break the rank-1 row-degeneracy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C75B12"/>
                </a:solidFill>
                <a:latin typeface="Calibri"/>
              </a:rPr>
              <a:t>✗  All 7 parents still give the SAME output distribution — just a different (flatter) one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Implication: the failure isn't in WHAT the mark head outputs. It's that the head can't make outputs DEPEND on the parent.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9 — Tier 1-aux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6B3A"/>
                </a:solidFill>
                <a:latin typeface="Calibri"/>
              </a:rPr>
              <a:t>The sharpened diagnosis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After four runs targeting the mark head, the bottleneck is upstream.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Refuted hypotheses (the mark head and its training signal):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Class imbalance creates a marginal-prediction local minimum (Tier 1.5)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Linear head's K independent functions of h are rank-collapsed (Tier 1-MLP)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C75B12"/>
                </a:solidFill>
                <a:latin typeface="Calibri"/>
              </a:rPr>
              <a:t>✗  Joint Hawkes NLL has insufficient gradient on z (Tier 1-aux)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1">
                <a:solidFill>
                  <a:srgbClr val="1F3A5F"/>
                </a:solidFill>
                <a:latin typeface="Calibri"/>
              </a:rPr>
              <a:t>Supported hypothesis (encoder bottleneck):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B3A"/>
                </a:solidFill>
                <a:latin typeface="Calibri"/>
              </a:rPr>
              <a:t>✓  The LSTM hidden state h(t) does not encode per-parent variation at the rank the mark head's linear projections can extract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101010"/>
                </a:solidFill>
                <a:latin typeface="Calibri"/>
              </a:rPr>
              <a:t>Supported by exclusion of three alternatives, AND by direct evidence: gradient attribution recovers off-diagonal cascade structure from the same Tier 1-MLP checkpoint, proving the information IS in h(t) — just not at the rank linear functions of h can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10 — Diagnosis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Cross-view interpretability triangulation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The diagnostic methodology generalizes beyond Hawkes.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The pattern that produced this finding: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Two K × K interpretability views of the same trained model — gradient attribution and forward simulation — that SHOULD agree at infinite data.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They disagreed at finite data.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That disagreement is the diagnostic signal: each successive intervention narrows the hypothesis space.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Tier 1-aux was particularly informative — it changed the most without solving the problem.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Without both views, you would not see this: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Forward-sim alone → "model has no cascade structure" (WRONG)</a:t>
            </a:r>
          </a:p>
          <a:p>
            <a:pPr algn="l">
              <a:spcAft>
                <a:spcPts val="4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Attribution alone → "model works as expected" (INCOMPLETE)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B3A"/>
                </a:solidFill>
                <a:latin typeface="Calibri"/>
              </a:rPr>
              <a:t>✓  Together → identifies a robust failure mode and its root cause</a:t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To our reading, this kind of multi-view-disagreement-as-diagnostic is not standard practice in the Neural Hawkes literature (Mei &amp; Eisner 2017, EasyTPP, RMTPP).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11 — Methodology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6B3A"/>
                </a:solidFill>
                <a:latin typeface="Calibri"/>
              </a:rPr>
              <a:t>What we actually have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Tier 1-MLP is a working model. The cascade graph is recoverable.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Tier 1-MLP — best model for downstream use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B3A"/>
                </a:solidFill>
                <a:latin typeface="Calibri"/>
              </a:rPr>
              <a:t>✓  Val NLL/event 3.38 (−20% vs Tier 1 baseline 4.20)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B3A"/>
                </a:solidFill>
                <a:latin typeface="Calibri"/>
              </a:rPr>
              <a:t>✓  Correctly tracks event rate as a function of history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    ◦  Wildfire-channel intensity 40 → 76 cold→warm seed shows the LSTM IS reading history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B3A"/>
                </a:solidFill>
                <a:latin typeface="Calibri"/>
              </a:rPr>
              <a:t>✓  Spatial distributions per mark recovered by the MDN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Cascade graph is recoverable — just not through forward-sim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1F6B3A"/>
                </a:solidFill>
                <a:latin typeface="Calibri"/>
              </a:rPr>
              <a:t>✓  Gradient attribution on the same Tier 1-MLP checkpoint shows the expected off-diagonal structure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555555"/>
                </a:solidFill>
                <a:latin typeface="Calibri"/>
              </a:rPr>
              <a:t>    ◦  Wildfire self-excitation, earthquake → wildfire, severe_storm → severe_storm all recovered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007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What's broken (in a characterized way)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C75B12"/>
                </a:solidFill>
                <a:latin typeface="Calibri"/>
              </a:rPr>
              <a:t>✗  Forward-simulation derived K × K cascade matrix is row-degenerate</a:t>
            </a:r>
          </a:p>
          <a:p>
            <a:pPr algn="l">
              <a:spcAft>
                <a:spcPts val="300"/>
              </a:spcAft>
            </a:pPr>
            <a:r>
              <a:rPr sz="1600" b="1">
                <a:solidFill>
                  <a:srgbClr val="C75B12"/>
                </a:solidFill>
                <a:latin typeface="Calibri"/>
              </a:rPr>
              <a:t>✗  Cannot sample parent-conditional event sequences from the model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Gap precisely localized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Not in the model's predictive power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Not in the mark head's representational capacity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Not in the training signal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IS in the LSTM's encoding of per-parent variation at the granularity the mark head reads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12 — What we have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Three angles, one artifact set.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Scientific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First Neural Hawkes fit on global EONET hazard catalog with interpretability analysis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Documented mark-head rank-1 collapse that is robust to 4 textbook remedies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Encoder-bottleneck diagnosis backed by both exclusion AND direct gradient-attribution evidence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Methodological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Cross-view triangulation as diagnostic — disagreement IS the signal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Vectorized attribution kernel — 240× speedup, n=5000 in 40 min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Rebalance + aux-loss recipes for marked point process training (with characterized failure modes)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3007" y="1737360"/>
            <a:ext cx="5410047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Operational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Catastrophe modeling, reinsurance, hazard planning still use parametric Hawkes from the 1990s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Tier 1-MLP (val NLL 3.38) is a defensible neural alternative for rate + spatial prediction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Cascade structure recoverable via gradient attribution — interpretable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Engineering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Reproducible 4-run experiment chain, cloud GPU, tests, diagnostic probe</a:t>
            </a:r>
          </a:p>
          <a:p>
            <a:pPr algn="l">
              <a:spcAft>
                <a:spcPts val="300"/>
              </a:spcAft>
            </a:pPr>
            <a:r>
              <a:rPr sz="1600">
                <a:solidFill>
                  <a:srgbClr val="101010"/>
                </a:solidFill>
                <a:latin typeface="Calibri"/>
              </a:rPr>
              <a:t>•  Demonstrated ML-engineering fluency on real messy hazard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13 — Impact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822960"/>
          </a:xfrm>
        </p:spPr>
        <p:txBody>
          <a:bodyPr/>
          <a:lstStyle/>
          <a:p>
            <a:pPr algn="l"/>
            <a:r>
              <a:rPr sz="3400" b="1">
                <a:solidFill>
                  <a:srgbClr val="1F3A5F"/>
                </a:solidFill>
                <a:latin typeface="Calibri"/>
              </a:rPr>
              <a:t>What remains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9441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r>
              <a:rPr sz="1800" i="1">
                <a:solidFill>
                  <a:srgbClr val="555555"/>
                </a:solidFill>
                <a:latin typeface="Calibri"/>
              </a:rPr>
              <a:t>Project is in writeup phase. No more compute planned.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94415" cy="475488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>
                <a:solidFill>
                  <a:srgbClr val="101010"/>
                </a:solidFill>
                <a:latin typeface="Calibri"/>
              </a:rPr>
              <a:t>•  Re-render the cross-tier notebook to incorporate all four checkpoints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101010"/>
                </a:solidFill>
                <a:latin typeface="Calibri"/>
              </a:rPr>
              <a:t>•  Decide venue: hazard-risk domain journal, ML methods workshop, or portfolio piece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101010"/>
                </a:solidFill>
                <a:latin typeface="Calibri"/>
              </a:rPr>
              <a:t>•  Draft methods paper around the cross-view triangulation methodology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101010"/>
                </a:solidFill>
                <a:latin typeface="Calibri"/>
              </a:rPr>
              <a:t>•  Headline figure — 5-panel or strip layout comparing the four runs' K × K matrices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101010"/>
                </a:solidFill>
                <a:latin typeface="Calibri"/>
              </a:rPr>
              <a:t>•  (Optional, low priority) H2: mark-agnostic spatial head — would confirm or refute H6's specific architectural pinning</a:t>
            </a:r>
          </a:p>
          <a:p>
            <a:pPr algn="l">
              <a:spcAft>
                <a:spcPts val="400"/>
              </a:spcAft>
            </a:pPr>
            <a:r>
              <a:rPr sz="2000">
                <a:solidFill>
                  <a:srgbClr val="101010"/>
                </a:solidFill>
                <a:latin typeface="Calibri"/>
              </a:rPr>
              <a:t>•  (Optional, ~10 min cleanup) Persist mark_rebalance / stratify_train flags in checkpoint config dicts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37960"/>
            <a:ext cx="11094415" cy="27432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r"/>
            <a:r>
              <a:rPr sz="1000" i="1">
                <a:solidFill>
                  <a:srgbClr val="555555"/>
                </a:solidFill>
                <a:latin typeface="Calibri"/>
              </a:rPr>
              <a:t>14 — Remaining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6400" b="1">
                <a:solidFill>
                  <a:srgbClr val="1F3A5F"/>
                </a:solidFill>
                <a:latin typeface="Calibri"/>
              </a:rPr>
              <a:t>Closed.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383280"/>
            <a:ext cx="10362895" cy="22860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2000" i="1">
                <a:solidFill>
                  <a:srgbClr val="2C7A7B"/>
                </a:solidFill>
                <a:latin typeface="Calibri"/>
              </a:rPr>
              <a:t>Four runs · One diagnosis · One working model (Tier 1-MLP) · One methodological contribution</a:t>
            </a:r>
          </a:p>
          <a:p>
            <a:pPr algn="ctr"/>
            <a:r>
              <a:rPr sz="2000">
                <a:latin typeface="Calibri"/>
              </a:rPr>
              <a:t/>
            </a:r>
          </a:p>
          <a:p>
            <a:pPr algn="ctr"/>
            <a:r>
              <a:rPr sz="2400" b="1">
                <a:solidFill>
                  <a:srgbClr val="1F3A5F"/>
                </a:solidFill>
                <a:latin typeface="Calibri"/>
              </a:rPr>
              <a:t>Next: writeup.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ctr"/>
            <a:r>
              <a:rPr sz="1400">
                <a:solidFill>
                  <a:srgbClr val="555555"/>
                </a:solidFill>
                <a:latin typeface="Calibri"/>
              </a:rPr>
              <a:t>github.com/liamlts/eonet-cascades  (private)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