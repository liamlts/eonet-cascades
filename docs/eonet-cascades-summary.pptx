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6400" b="1">
                <a:solidFill>
                  <a:srgbClr val="1F3A5F"/>
                </a:solidFill>
                <a:latin typeface="Calibri"/>
              </a:rPr>
              <a:t>eonet-cascades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2200">
                <a:solidFill>
                  <a:srgbClr val="101010"/>
                </a:solidFill>
                <a:latin typeface="Calibri"/>
              </a:rPr>
              <a:t>Learning how natural disasters cascade from 25 years of</a:t>
            </a:r>
          </a:p>
          <a:p>
            <a:r>
              <a:rPr sz="2200">
                <a:solidFill>
                  <a:srgbClr val="101010"/>
                </a:solidFill>
                <a:latin typeface="Calibri"/>
              </a:rPr>
              <a:t>global hazard data — and discovering, along the way,</a:t>
            </a:r>
          </a:p>
          <a:p>
            <a:r>
              <a:rPr sz="2200">
                <a:solidFill>
                  <a:srgbClr val="101010"/>
                </a:solidFill>
                <a:latin typeface="Calibri"/>
              </a:rPr>
              <a:t>a robust failure mode of Neural Hawkes models on imbalanced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728655" cy="914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600" i="1">
                <a:solidFill>
                  <a:srgbClr val="2C7A7B"/>
                </a:solidFill>
                <a:latin typeface="Calibri"/>
              </a:rPr>
              <a:t>Four cloud experiments. Five 2024 storm clusters tested. One working model. One clean diagnosis. One methodological contribution.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300" i="1">
                <a:solidFill>
                  <a:srgbClr val="555555"/>
                </a:solidFill>
                <a:latin typeface="Calibri"/>
              </a:rPr>
              <a:t>Liam Schmidt  ·  Northeastern University  ·  final summary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One disaster sets off another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500" i="1">
                <a:solidFill>
                  <a:srgbClr val="555555"/>
                </a:solidFill>
                <a:latin typeface="Calibri"/>
              </a:rPr>
              <a:t>Hazards don't happen in isolation — they cascade.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The 2011 Tōhoku earthquake triggered the tsunami that flooded Fukushima.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Hurricane Katrina's storm surge caused most of the deaths attributed to the storm itself.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Wildfires destroy vegetation; a year later when the rains return, hillsides slide.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Question: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Across 2.4 million natural-hazard events worldwide since 2000, can we learn the general structure of these cascades from data alone — without telling the model anything about geology, meteorology, or risk engineering?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 —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The data — NASA EONET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Scale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2.4 M events, global coverage 2000 → present, 1.1 GB DuckDB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Per event: (time, longitude, latitude, type)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Mark vocabulary (K = 7 in working splits)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wildfire — ~87% of events (heavily dominant)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severe_storm, flood, earthquake, tornado, landslide, dust_haze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Splits used in this work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Train: 2022-01 → 2024-06 (2.385 M events)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Val: 2024-07 → 2024-12 (356 k events)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 —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Background — point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500" i="1">
                <a:solidFill>
                  <a:srgbClr val="555555"/>
                </a:solidFill>
                <a:latin typeface="Calibri"/>
              </a:rPr>
              <a:t>How to model random events at random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The simplest example is the Poisson process: events at constant rate λ, no memory.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2400" b="1">
                <a:solidFill>
                  <a:srgbClr val="2C7A7B"/>
                </a:solidFill>
                <a:latin typeface="Cambria Math"/>
              </a:rPr>
              <a:t>λ(t) = λ₀     (constant)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Properties: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Past events tell you NOTHING about future events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Interevent intervals are exponentially distributed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Natural hazards have memory — an earthquake tells you something about what's coming. We need a process WITH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3 —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Hawkes processes — past events boost future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Let the rate at time t depend on all earlier events: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2400" b="1">
                <a:solidFill>
                  <a:srgbClr val="2C7A7B"/>
                </a:solidFill>
                <a:latin typeface="Cambria Math"/>
              </a:rPr>
              <a:t>λ(t) = μ + Σᵢ α · exp[ −β · (t − tᵢ) ]   for tᵢ &lt; t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μ — baseline rate (events on their own)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α — how much each past event boosts the rate of the next one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β — how quickly that boost decays in time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Each event creates a spike in the intensity that decays. Stack the spikes → rate of the next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4 — Hawkes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Multivariate Hawkes — cascades between event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2400" b="1">
                <a:solidFill>
                  <a:srgbClr val="2C7A7B"/>
                </a:solidFill>
                <a:latin typeface="Cambria Math"/>
              </a:rPr>
              <a:t>λᵢ(t) = μᵢ + Σⱼ Σ_{tₖ&lt;t, type(k)=j} αᵢⱼ · exp[ −βᵢⱼ(t − tₖ) ]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The K × K matrix αᵢⱼ IS the cascade graph: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αᵢⱼ &gt; 0   ⇒   type j triggers type i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αᵢⱼ ≈ 0   ⇒   no causal coupling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If we can fit α from data, we recover the cascade structure. That is this project's headline goal.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5 — Multivariate Hawkes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Three model tiers, one shared likelihood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500" i="1">
                <a:solidFill>
                  <a:srgbClr val="555555"/>
                </a:solidFill>
                <a:latin typeface="Calibri"/>
              </a:rPr>
              <a:t>Apples-to-apples comparison across functional 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0 — Parametric Hawkes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Constant α × exp(time) × Gaussian(space). ~200 params. Max interpretability; rigid form.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1 — Neural Hawkes (this project's focus)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CTLSTM hidden state + per-mark intensity head + bivariate MDN spatial head. ~30k params.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2 — Transformer Hawkes (deferred)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Long-range attention. Not built; reserved as future work.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Tier 1 has no explicit α matrix. We derive K×K cascade structure two ways: gradient attribution AND forward simulation. They should agree at infinite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6 — Three tiers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Tier 1-MLP — Neural Hawkes architecture</a:t>
            </a:r>
          </a:p>
        </p:txBody>
      </p:sp>
      <p:pic>
        <p:nvPicPr>
          <p:cNvPr id="3" name="Picture 2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09" y="1417320"/>
            <a:ext cx="7896476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CTLSTM hidden state h(t) → per-mark intensity head (the H6 bottleneck) + mark-conditional MDN spatial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7 —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Two derived K × K views of the same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View A — Gradient attribution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Operates on the LSTM hidden state h(t) directly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Bypasses the mark head's output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Recovers off-diagonal cascade structure cleanly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View B — Forward simulation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Samples through the mark head's full output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Should produce a parent-conditional K × K transition matrix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Row-degenerate in all four runs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The disagreement IS the diagnostic. Three days of work tracking it 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8 — Interpretability bridge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C75B12"/>
                </a:solidFill>
                <a:latin typeface="Calibri"/>
              </a:rPr>
              <a:t>Four cloud experiments — Lambda Labs A10, ~$19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Each targeted the rank-1 forward-sim row-degeneracy with a different intervention.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Each failed the primary acceptance criterion: probe row-deviation &gt; 0.1.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1   ·   baseline (linear head, joint Hawkes NLL)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Val NLL 4.20  ·  probe row-dev 0.0012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1.5 ·  class re-weighting + stratified subsample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Val NLL 6.80 (+62%)  ·  probe row-dev 0.0000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1-MLP  ·  non-linear mark head (Linear → ReLU → Linear)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Val NLL 3.38 (−20%, best)  ·  probe row-dev 0.0000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1-aux  ·  explicit cross-entropy auxiliary loss λ=1.0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Val NLL 4.94 (+18%)  ·  probe row-dev 0.0002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9 — Four runs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C75B12"/>
                </a:solidFill>
                <a:latin typeface="Calibri"/>
              </a:rPr>
              <a:t>Forward-sim K × K matrices: row-degeneracy across all four runs</a:t>
            </a:r>
          </a:p>
        </p:txBody>
      </p:sp>
      <p:pic>
        <p:nvPicPr>
          <p:cNvPr id="3" name="Picture 2" descr="fig1_kk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4415" cy="3397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60791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Every parent (row) gives the same child distribution (column pattern). The model ignores parent mark for composition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10 — K × K row-degeneracy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Convergence curves — Tier 1-MLP achieves the best val NLL</a:t>
            </a:r>
          </a:p>
        </p:txBody>
      </p:sp>
      <p:pic>
        <p:nvPicPr>
          <p:cNvPr id="3" name="Picture 2" descr="fig2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744" y="1417320"/>
            <a:ext cx="7762207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Tier 1-MLP (green) finishes at 3.38, beating Tier 1 (4.20) by 20%. Tier 1.5 (orange) and Tier 1-aux (teal) above the 4.41 acceptance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11 — Convergence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C75B12"/>
                </a:solidFill>
                <a:latin typeface="Calibri"/>
              </a:rPr>
              <a:t>Interventions DO shift the mark-head marginal — but not the conditioning</a:t>
            </a:r>
          </a:p>
        </p:txBody>
      </p:sp>
      <p:pic>
        <p:nvPicPr>
          <p:cNvPr id="3" name="Picture 2" descr="fig3_margina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193" y="1417320"/>
            <a:ext cx="9685309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Tier 1 and Tier 1-MLP are wildfire-dominant (~90%); Tier 1.5 and Tier 1-aux flattened the marginal. But the K rows remain identical across parents in all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12 — Marginal vs conditioning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Primary acceptance criterion: all four runs fail by 3 orders of magnitude</a:t>
            </a:r>
          </a:p>
        </p:txBody>
      </p:sp>
      <p:pic>
        <p:nvPicPr>
          <p:cNvPr id="3" name="Picture 2" descr="fig4_row_dev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177" y="1417320"/>
            <a:ext cx="7781341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Row-deviation &gt; 0.1 required. Observed: 0.0012, 0.0000, 0.0000, 0.0002. Robust failure across four interventions.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13 — Acceptance criterion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6B3A"/>
                </a:solidFill>
                <a:latin typeface="Calibri"/>
              </a:rPr>
              <a:t>The sharpened diagnosis: encoder bottleneck (H6)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Refuted hypotheses (mark head + training signal):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Class imbalance creates a marginal local minimum (Tier 1.5)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Linear head insufficient capacity (Tier 1-MLP)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Joint Hawkes NLL has insufficient gradient on z (Tier 1-aux)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Supported hypothesis — H6: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The LSTM hidden state h(t) does not encode per-parent variation at the rank the mark head's linear projections can extract.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Supported by exclusion of three alternatives AND by direct evidence: gradient attribution on the same checkpoint DOES recover off-diagonal cascade structure (info IS in h, just not at the rank linear functions of h can read).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14 — Diagnosis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6B3A"/>
                </a:solidFill>
                <a:latin typeface="Calibri"/>
              </a:rPr>
              <a:t>Quantifying H6: effective rank = 1.00 out of K = 7</a:t>
            </a:r>
          </a:p>
        </p:txBody>
      </p:sp>
      <p:pic>
        <p:nvPicPr>
          <p:cNvPr id="3" name="Picture 2" descr="fig_effective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4415" cy="4533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96899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Mark-head outputs lie on a 1.00-dimensional manifold. Across 21 hidden states from validation, all 3 output forms (raw logits, intensities, normalized probabilities) collapse to a single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15 — Effective rank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6B3A"/>
                </a:solidFill>
                <a:latin typeface="Calibri"/>
              </a:rPr>
              <a:t>All 7 seed marks produce IDENTICAL intensity decay curves</a:t>
            </a:r>
          </a:p>
        </p:txBody>
      </p:sp>
      <p:pic>
        <p:nvPicPr>
          <p:cNvPr id="3" name="Picture 2" descr="fig_hawkes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538" y="1417320"/>
            <a:ext cx="8894618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One seed event of any mark. λ_total(t) trajectory should differ by mark type. It doesn't. Seven curves overlap exactly — another independent confirmation of H6.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16 — Decay curves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The model didn't learn distinct per-mark geography either</a:t>
            </a:r>
          </a:p>
        </p:txBody>
      </p:sp>
      <p:pic>
        <p:nvPicPr>
          <p:cNvPr id="3" name="Picture 2" descr="fig_ge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27" y="1417320"/>
            <a:ext cx="8792641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Per-mark spatial densities are visually near-identical across all 7 marks. Model learned 'where events happen' generically, not 'wildfires in California vs hurricanes in the Gulf.'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17 — Per-mark geography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The methodological contribution: cross-view triangulation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500" i="1">
                <a:solidFill>
                  <a:srgbClr val="555555"/>
                </a:solidFill>
                <a:latin typeface="Calibri"/>
              </a:rPr>
              <a:t>A diagnostic pattern that generalizes beyond Hawkes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The pattern: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Two K × K interpretability views of the same trained model that, at infinite data, should agree.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Notice when they disagree at finite data. That disagreement is the diagnostic signal.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Run targeted interventions; track which change behavior and which do not.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The intervention that changes the most without solving the problem is the most informative (Tier 1-aux here).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Three independent quantitative confirmations of H6 in this work: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Probe row-deviation = 0.0000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Effective rank = 1.00 (out of K=7)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Mark-agnostic intensity decay (all 7 curves overlap)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18 — Methodology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But — the same model is a working rate forecaster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500" i="1">
                <a:solidFill>
                  <a:srgbClr val="555555"/>
                </a:solidFill>
                <a:latin typeface="Calibri"/>
              </a:rPr>
              <a:t>The cascade-extraction path is broken. The forecaster underneath isn't.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1-MLP, val NLL 3.38, has a broken forward-sim path but: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Correctly tracks total event rate as a function of history (the LSTM IS reading h for rates).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Correctly predicts per-mark spatial distributions via the MDN.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Cross-mark cascade structure is recoverable via gradient attribution (alternate extraction path).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We tested this empirically on five 2024 storm clusters covering both major hurricanes (Francine, Milton) and smaller bursts. The model beats a marginal-Poisson baseline by ~100× across all five.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Following slides show the empirical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19 — Pivot to case studies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The model adapts in real time to Hurricane Francine</a:t>
            </a:r>
          </a:p>
        </p:txBody>
      </p:sp>
      <p:pic>
        <p:nvPicPr>
          <p:cNvPr id="3" name="Picture 2" descr="case_study_hero_st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74" y="1417320"/>
            <a:ext cx="10250146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Sept 1 (calm baseline) vs Sept 10 (peak Francine). Storm-related intensity peak goes 3.65×10⁻³ → 1.10×10⁻² as the model raises predictions across the entire eastern US ahead of landfall.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20 — Hero figure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Sept 9-10 storm cluster: 8,144 + 7,275 events</a:t>
            </a:r>
          </a:p>
        </p:txBody>
      </p:sp>
      <p:pic>
        <p:nvPicPr>
          <p:cNvPr id="3" name="Picture 2" descr="case_study_francine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4415" cy="4605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6852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Daily EONET event counts in the test window. Highlighted Sept 9-10 burst is nearly double any other day. Warm-up (grey) feeds the model history; test window (navy) is scored against actuals.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21 — Daily counts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Model log-likelihood is flat across the burst — it wasn't surprised</a:t>
            </a:r>
          </a:p>
        </p:txBody>
      </p:sp>
      <p:pic>
        <p:nvPicPr>
          <p:cNvPr id="3" name="Picture 2" descr="case_study_francine_likelih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507" y="1417320"/>
            <a:ext cx="8330681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Top: per-event log-lik scatter, colored by mark. Bottom: daily mean model vs marginal-Poisson baseline. ~4.6 nat/event gap, flat across the entire test window including the storm cluster.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22 — Likelihood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6B3A"/>
                </a:solidFill>
                <a:latin typeface="Calibri"/>
              </a:rPr>
              <a:t>+4.6 nats/event improvement holds across FIVE 2024 storm bursts</a:t>
            </a:r>
          </a:p>
        </p:txBody>
      </p:sp>
      <p:pic>
        <p:nvPicPr>
          <p:cNvPr id="3" name="Picture 2" descr="case_study_multi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41" y="1417320"/>
            <a:ext cx="10493613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Same Tier 1-MLP, five independent test windows. Improvement ranges +4.56 to +4.72 nats/event. Milton has the largest gap (+4.72). The result is robust, not cherry-picked.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23 — Robustness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The model gives high likelihood to events along Francine's track</a:t>
            </a:r>
          </a:p>
        </p:txBody>
      </p:sp>
      <p:pic>
        <p:nvPicPr>
          <p:cNvPr id="3" name="Picture 2" descr="case_study_francine_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112" y="1417320"/>
            <a:ext cx="694147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Sept 9-10 events colored by model log-lik. Yellow = high. Red star = Francine landfall. Concentration of high-lik events follows the storm corridor.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24 — Spatial scatter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Calibration: the model knows what it doesn't know</a:t>
            </a:r>
          </a:p>
        </p:txBody>
      </p:sp>
      <p:pic>
        <p:nvPicPr>
          <p:cNvPr id="3" name="Picture 2" descr="case_study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4415" cy="4019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2604"/>
            <a:ext cx="11094415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Lowest log-lik decile contains the rare-mark events (earthquake, flood, severe_storm). Mid-to-high deciles are essentially all wildfires. Useful for anomaly-detection: low log-lik events are likely non-wildfire hazards.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25 — Calibration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6B3A"/>
                </a:solidFill>
                <a:latin typeface="Calibri"/>
              </a:rPr>
              <a:t>What this project actually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A working Neural Hawkes model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Tier 1-MLP at runs/tier1_mlp/20260526_141553/, val NLL 3.38, 20% improvement over Tier 1 baseline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Demonstrated on real 2024 hurricane season — beats marginal baseline by ~100× across 5 storm clusters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A characterized failure mode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Mark-head rank-1 collapse survives 4 textbook remedies (rebalance, MLP head, aux loss, etc.)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Localized to LSTM encoder; gradient attribution recovers the cascade structure the forward-sim path can't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Quantified three independent ways: probe row-dev 0.000, effective rank 1.00, mark-agnostic decay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Methodological contribution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Cross-view interpretability triangulation as a diagnostic. Disagreement IS the signal.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Vectorized attribution kernel: 240× speedup, enables n=5000 analyses in 40 min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Reproducible end-to-end pipeline + 4-run cloud experiment chain, $19 total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26 — Deliverables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Future work — ranked by yield-per-effort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1 — Direct continuation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Effective-rank diagnostic on W_λ_k @ Cov(h) — DONE in this work (rank = 1.00)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Wider LSTM hidden_dim (128, 256) — ~$10 cloud, tests if bottleneck is just capacity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Transformer encoder (the original Tier 2 scope) — tests if H6 is LSTM-specific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Tier 2 — Methodology generalization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Apply cross-view triangulation to other Neural TPP models (RMTPP, Transformer Hawkes, etc.)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Synthetic ground-truth Hawkes recovery test — separates EONET-data property from model-class property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Operational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Hazard-rate forecasting service productionizing Tier 1-MLP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Gradient-attribution-based cascade dashboard (alternative extraction path)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  <a:latin typeface="Calibri"/>
              </a:rPr>
              <a:t>27 — Future 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6400" b="1">
                <a:solidFill>
                  <a:srgbClr val="1F3A5F"/>
                </a:solidFill>
                <a:latin typeface="Calibri"/>
              </a:rPr>
              <a:t>Closed.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62895" cy="2286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800" i="1">
                <a:solidFill>
                  <a:srgbClr val="2C7A7B"/>
                </a:solidFill>
                <a:latin typeface="Calibri"/>
              </a:rPr>
              <a:t>Four cloud runs.  Five storm-cluster validations.  $19 spent.</a:t>
            </a:r>
          </a:p>
          <a:p>
            <a:pPr algn="ctr"/>
            <a:r>
              <a:rPr sz="2000">
                <a:latin typeface="Calibri"/>
              </a:rPr>
              <a:t/>
            </a:r>
          </a:p>
          <a:p>
            <a:pPr algn="ctr"/>
            <a:r>
              <a:rPr sz="2200" b="1">
                <a:solidFill>
                  <a:srgbClr val="1F6B3A"/>
                </a:solidFill>
                <a:latin typeface="Calibri"/>
              </a:rPr>
              <a:t>One working model.</a:t>
            </a:r>
          </a:p>
          <a:p>
            <a:pPr algn="ctr"/>
            <a:r>
              <a:rPr sz="2200" b="1">
                <a:solidFill>
                  <a:srgbClr val="C75B12"/>
                </a:solidFill>
                <a:latin typeface="Calibri"/>
              </a:rPr>
              <a:t>One characterized failure mode.</a:t>
            </a:r>
          </a:p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One methodological contribution.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400">
                <a:solidFill>
                  <a:srgbClr val="555555"/>
                </a:solidFill>
                <a:latin typeface="Calibri"/>
              </a:rPr>
              <a:t>github.com/liamlts/eonet-cascades  (private)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